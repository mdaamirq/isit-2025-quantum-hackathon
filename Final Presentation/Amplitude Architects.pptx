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4" r:id="rId5"/>
    <p:sldId id="289" r:id="rId6"/>
    <p:sldId id="285" r:id="rId7"/>
    <p:sldId id="286" r:id="rId8"/>
    <p:sldId id="271" r:id="rId9"/>
    <p:sldId id="287" r:id="rId10"/>
    <p:sldId id="272" r:id="rId11"/>
    <p:sldId id="291" r:id="rId12"/>
    <p:sldId id="290" r:id="rId13"/>
    <p:sldId id="288" r:id="rId14"/>
    <p:sldId id="283" r:id="rId15"/>
    <p:sldId id="28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D5892-405C-EEDA-0450-847D2FA64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C38636-BCE2-A6E1-29E4-F2E33F135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CA6C1-73E8-5C8E-62FA-3CE67BBB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10092E-F7BE-F4AE-50DC-BAAAB33A0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18693-7EF3-528C-A4FF-6FD79535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336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6143F-7B81-7C2B-0548-255D56F1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508A29-E564-9A78-3DD7-EBC7A9F27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83688-2FC1-025E-AA6D-4AAA7060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2D9B60-CFBE-CC36-1334-5FBE6A44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EED3F4-B938-72C1-3892-38B83CC9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83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2DB49-FD2E-76F5-D0ED-41D135836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915D7E-E885-7109-2FF0-902A69078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92931D-4C9B-39B5-A938-EF84FBF7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28A2EF-0E5F-AEBB-F7A3-AB5F4CDB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1CE20D-80CD-A25B-1CE1-CE0E9C14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112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3E563-20B8-4BBC-6C3C-13E90F05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9B3D4-6D53-DC0F-8497-F13B54FCB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FBBE0A-0FE5-BE6E-D0BF-EB044C6AD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332BC9-8EA4-6ED2-85FB-1A0FCA33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50D86B-327B-8EA3-45BD-92C86D51D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B253E7-FB5A-E95C-C0DF-FF9DA7ED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50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D3660-EEB9-3ACA-014C-EAC990F4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ECF865-56F8-8F99-3A5A-760F0A954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FE1D46-3F00-22EC-435D-31A310D18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88C100-330E-CCD5-6253-269B5AFD2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E2B6BF-B467-8218-D828-B75F46DD0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616B39-1B2B-5169-4473-525D8DB9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7ADA8C-146B-0CD6-84BA-6F54EBE1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395EAB-56DE-883B-FEB4-04065116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29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97B64-4E19-3181-B172-BBB7164F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F83EB4-2BE3-B1BF-C0DB-8AA3A3F6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48CD9A-C6D2-42D7-EFD6-16254F85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16A847-FD33-EF8E-903B-21FE6B61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184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E28250-7C90-3CB5-89BC-F0E88467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8A74C2-AC18-270D-8C0F-029E378E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4AA954-61D5-8C7D-AD8C-AC9DE83F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123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915AF-0822-A179-1F0A-0CD72907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E1F146-268A-2694-920F-35DED8971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B9F3A5-DD7C-AAFB-938E-49AA1AB14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E7A30B-3FFE-E113-526B-A5523D34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42A24A-C41D-E004-1F4D-F7301D26C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584C0E-619D-1A2B-9832-DBA65B9D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19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2EB4F-1C83-7B83-0E29-BB23BD13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CAB364-1C3A-D5F9-92C2-26415F13B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EE609E-A0F0-F7D8-8D9B-3177D6F27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A6AA5B-A996-20B7-F5F6-12C06837D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8EF735-426B-C151-99B8-9E8B16BF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EC5952-1383-835F-BCCB-D41F4298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90AB3-470C-1FA1-F505-4EAD4DA3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44EBE0-615C-C5E2-540E-AD5486300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7E3DBF-CD8D-7BC0-FAD5-9046F763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D1A282-1934-2CA5-6EF6-7AD629D0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1744E2-084B-CD01-957B-6C65F366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1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E533E5-BAA3-BE68-2116-247CE7940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AB840A-7539-681B-CC84-0AD64691F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69D510-7206-5951-94CB-F1300CF8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8546E-F0DF-BD9C-E0E1-62E5A44A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F57CBC-48DF-0221-61EE-1AA0A1F1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96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0DCDB4-1223-CA82-CC9C-CE84CDF7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D15368-CC2F-25F1-012B-505492858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B1E32-AF14-9D66-EBE2-93E69751D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0E4D7-63FA-4029-B4CC-8A94ED5F7DF1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D85DE6-398C-8A63-E8D1-EDF463155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8D4E22-F146-2F20-EE0A-AC87AD47D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BCC2D-5268-46F9-B91D-535B20BF8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78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467-018-03405-7#Sec8" TargetMode="External"/><Relationship Id="rId2" Type="http://schemas.openxmlformats.org/officeDocument/2006/relationships/hyperlink" Target="https://dburkhardt.github.io/post/2018-10-28-magic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BEAAE-211E-4029-159F-83699F2EF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1200"/>
            <a:ext cx="9144000" cy="4566395"/>
          </a:xfrm>
        </p:spPr>
        <p:txBody>
          <a:bodyPr>
            <a:normAutofit fontScale="90000"/>
          </a:bodyPr>
          <a:lstStyle/>
          <a:p>
            <a:r>
              <a:rPr lang="en-US" altLang="zh-CN" sz="53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Denoising single cell RNA sequencing data using </a:t>
            </a:r>
            <a:br>
              <a:rPr lang="en-US" altLang="zh-CN" sz="53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zh-CN" sz="53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Quantum State Tomography</a:t>
            </a:r>
            <a:br>
              <a:rPr lang="en-US" altLang="zh-CN" sz="4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zh-CN" sz="4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zh-CN" sz="4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zh-CN" sz="31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Ranga Sudharshan</a:t>
            </a:r>
            <a:br>
              <a:rPr lang="en-US" altLang="zh-CN" sz="31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zh-CN" sz="31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Swapnil Bhole  </a:t>
            </a:r>
            <a:br>
              <a:rPr lang="en-US" altLang="zh-CN" sz="31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zh-CN" sz="31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(Team: Amplitude Architects)</a:t>
            </a:r>
            <a:br>
              <a:rPr lang="en-US" altLang="zh-CN" sz="4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zh-CN" sz="4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zh-CN" altLang="en-US" sz="4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40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51B24-66A1-7064-6302-4735447C3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dirty="0"/>
              <a:t>🚀 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Motivation and Challenges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8E89D-B6B8-3FD5-B87F-80A475CDB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521"/>
            <a:ext cx="10515600" cy="499935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Single-cell RNA-sequencing (</a:t>
            </a:r>
            <a:r>
              <a:rPr lang="en-US" altLang="zh-C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scRNA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-seq) enables transcriptome-wide profiling at the resolution of individual cells.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However, only </a:t>
            </a:r>
            <a:r>
              <a:rPr lang="en-US" altLang="zh-CN" sz="2000" b="1" i="1" dirty="0">
                <a:latin typeface="Cambria" panose="02040503050406030204" pitchFamily="18" charset="0"/>
                <a:ea typeface="Cambria" panose="02040503050406030204" pitchFamily="18" charset="0"/>
              </a:rPr>
              <a:t>10–40% of transcripts 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are captured per cell due to technical inefficiencies (e.g., RT, PCR in droplets).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leads to:</a:t>
            </a:r>
          </a:p>
          <a:p>
            <a:pPr marL="0" indent="0" algn="just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Undercounting of gene expression levels across all genes.</a:t>
            </a:r>
          </a:p>
          <a:p>
            <a:pPr marL="0" indent="0" algn="just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Dropout events: Lowly expressed genes are recorded as zero despite being active.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Dropout: Gene detected in some cells, but 0 in others despite expression.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Protocol-dependent: e.g., droplet-based platforms show higher dropout than Fluidigm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Naive imputation may erase real biological variation.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0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5C9A6-6AF9-1B74-942F-6CCBDA016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C4986D6-42EE-7337-FCF7-E1C631D7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600" b="1" kern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Existing Methods &amp; Limitations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9684EA-90B0-716A-51AC-1B03A06D2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908993"/>
              </p:ext>
            </p:extLst>
          </p:nvPr>
        </p:nvGraphicFramePr>
        <p:xfrm>
          <a:off x="643467" y="2127428"/>
          <a:ext cx="10905068" cy="3489799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1978984">
                  <a:extLst>
                    <a:ext uri="{9D8B030D-6E8A-4147-A177-3AD203B41FA5}">
                      <a16:colId xmlns:a16="http://schemas.microsoft.com/office/drawing/2014/main" val="4087284497"/>
                    </a:ext>
                  </a:extLst>
                </a:gridCol>
                <a:gridCol w="4082019">
                  <a:extLst>
                    <a:ext uri="{9D8B030D-6E8A-4147-A177-3AD203B41FA5}">
                      <a16:colId xmlns:a16="http://schemas.microsoft.com/office/drawing/2014/main" val="2705194658"/>
                    </a:ext>
                  </a:extLst>
                </a:gridCol>
                <a:gridCol w="4844065">
                  <a:extLst>
                    <a:ext uri="{9D8B030D-6E8A-4147-A177-3AD203B41FA5}">
                      <a16:colId xmlns:a16="http://schemas.microsoft.com/office/drawing/2014/main" val="3741610323"/>
                    </a:ext>
                  </a:extLst>
                </a:gridCol>
              </a:tblGrid>
              <a:tr h="635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Method</a:t>
                      </a:r>
                    </a:p>
                  </a:txBody>
                  <a:tcPr marL="108571" marR="219221" marT="31020" marB="232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Strengths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Weaknesses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109655"/>
                  </a:ext>
                </a:extLst>
              </a:tr>
              <a:tr h="635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MAGIC</a:t>
                      </a:r>
                    </a:p>
                  </a:txBody>
                  <a:tcPr marL="108571" marR="219221" marT="31020" marB="232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Global smoothing on manifold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Alters all values, risks over-smoothing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920100"/>
                  </a:ext>
                </a:extLst>
              </a:tr>
              <a:tr h="635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SAVER</a:t>
                      </a:r>
                    </a:p>
                  </a:txBody>
                  <a:tcPr marL="108571" marR="219221" marT="31020" marB="232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Bayesian gene-level modeling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Low recall, little improvement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056776"/>
                  </a:ext>
                </a:extLst>
              </a:tr>
              <a:tr h="9461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CIDR/Seurat</a:t>
                      </a:r>
                    </a:p>
                  </a:txBody>
                  <a:tcPr marL="108571" marR="219221" marT="31020" marB="232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Clustering with imputation hints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genome-wide; partial dropout model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150299"/>
                  </a:ext>
                </a:extLst>
              </a:tr>
              <a:tr h="635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scImpute</a:t>
                      </a:r>
                    </a:p>
                  </a:txBody>
                  <a:tcPr marL="108571" marR="219221" marT="31020" marB="232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Dropout detection + imputation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Conservative, local cell-aware</a:t>
                      </a:r>
                    </a:p>
                  </a:txBody>
                  <a:tcPr marL="108571" marR="219221" marT="31020" marB="232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28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24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37C7-03A9-F8A8-7049-3E68E016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9DB0E-BC63-ED71-DB64-E3A8C8495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PBMC data before and after imputation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D7A0EF9-BF7B-7263-D0A4-2D75667640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769" y="1690688"/>
            <a:ext cx="41674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330D83DB-EE82-7D36-37B3-A1B0A1427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574" y="1510268"/>
            <a:ext cx="4574192" cy="473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745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D61E6-5C9A-7D6E-6548-8C8187E6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3FEDC00-D482-7CB8-E58F-681ACD93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PBMC data before and after imputation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78EE89-6460-8B3E-0450-6C8A571A1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703362"/>
              </p:ext>
            </p:extLst>
          </p:nvPr>
        </p:nvGraphicFramePr>
        <p:xfrm>
          <a:off x="643467" y="1985810"/>
          <a:ext cx="10905067" cy="37730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04445">
                  <a:extLst>
                    <a:ext uri="{9D8B030D-6E8A-4147-A177-3AD203B41FA5}">
                      <a16:colId xmlns:a16="http://schemas.microsoft.com/office/drawing/2014/main" val="1004829509"/>
                    </a:ext>
                  </a:extLst>
                </a:gridCol>
                <a:gridCol w="3785326">
                  <a:extLst>
                    <a:ext uri="{9D8B030D-6E8A-4147-A177-3AD203B41FA5}">
                      <a16:colId xmlns:a16="http://schemas.microsoft.com/office/drawing/2014/main" val="2927204598"/>
                    </a:ext>
                  </a:extLst>
                </a:gridCol>
                <a:gridCol w="4315296">
                  <a:extLst>
                    <a:ext uri="{9D8B030D-6E8A-4147-A177-3AD203B41FA5}">
                      <a16:colId xmlns:a16="http://schemas.microsoft.com/office/drawing/2014/main" val="1641740859"/>
                    </a:ext>
                  </a:extLst>
                </a:gridCol>
              </a:tblGrid>
              <a:tr h="687146">
                <a:tc>
                  <a:txBody>
                    <a:bodyPr/>
                    <a:lstStyle/>
                    <a:p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cap="none" spc="0" dirty="0">
                          <a:solidFill>
                            <a:schemeClr val="tx1"/>
                          </a:solidFill>
                        </a:rPr>
                        <a:t>Before imputation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cap="none" spc="0" dirty="0">
                          <a:solidFill>
                            <a:schemeClr val="tx1"/>
                          </a:solidFill>
                        </a:rPr>
                        <a:t>After imputation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051028"/>
                  </a:ext>
                </a:extLst>
              </a:tr>
              <a:tr h="687146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Expression sparsity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Most values = 0 (black/tiny)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Continuous values restored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227666"/>
                  </a:ext>
                </a:extLst>
              </a:tr>
              <a:tr h="687146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Marker size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Sparse large circles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Smooth variation across cells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834632"/>
                  </a:ext>
                </a:extLst>
              </a:tr>
              <a:tr h="687146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Color distribution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Almost all black or uniform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Full spectrum (purple → yellow)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074392"/>
                  </a:ext>
                </a:extLst>
              </a:tr>
              <a:tr h="1024452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Structure visibility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Hard to distinguish patterns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Easier to separate expression clusters</a:t>
                      </a:r>
                    </a:p>
                  </a:txBody>
                  <a:tcPr marL="84327" marR="84327" marT="113725" marB="1686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390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267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7AAF-AF86-8507-A9AB-DC74D072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C59E7-9219-4CFE-3A42-5E40197A1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</a:rPr>
              <a:t>MAGIC: Markov Affinity-based Graph Imputation of Cells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686E5E-8CA1-AF83-7B4A-86EB8BFEB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259"/>
            <a:ext cx="10515600" cy="3955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MAGIC's Core Idea: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Build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cell-cell affinity graph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to represent the data manifold.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Markov diffusion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on this graph to propagate information and impute values.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Operates as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low-pass filter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on the graph, smoothing noise while preserving structure.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Denoises and imputes simultaneously.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Model-free: makes no assumptions about data distribution.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Effective for both visualization and downstream gene–gene correlation recovery.</a:t>
            </a:r>
          </a:p>
        </p:txBody>
      </p:sp>
    </p:spTree>
    <p:extLst>
      <p:ext uri="{BB962C8B-B14F-4D97-AF65-F5344CB8AC3E}">
        <p14:creationId xmlns:p14="http://schemas.microsoft.com/office/powerpoint/2010/main" val="271828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993E-6353-3855-F547-E995327D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3C2F1-4B4E-3C54-A1CF-0B10D825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</a:rPr>
              <a:t>MAGIC: Markov Affinity-based Graph Imputation of Cells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3FDB7-58FF-0EF8-90B6-70B011F6FC96}"/>
              </a:ext>
            </a:extLst>
          </p:cNvPr>
          <p:cNvSpPr txBox="1"/>
          <p:nvPr/>
        </p:nvSpPr>
        <p:spPr>
          <a:xfrm>
            <a:off x="838199" y="2014368"/>
            <a:ext cx="10470932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Diffusion Time t: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Number of steps the diffusion process runs.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Acts as a hyperparameter controlling how much the signal is smoothed.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Low t: retains noise; High t: risks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oversmoothing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real biology.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Dropout vs. Biological Zeros: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MAGIC spreads values across neighboring cells.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neighbors have non-zero expression → dropouts are imputed.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all neighbors are zero → biological zero is retained.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How t is Chosen: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Automatic selection by monitoring data change: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∥𝑋(𝑡)−𝑋(𝑡−1)∥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knee point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indicates the transition from noise reduction to signal degradation.</a:t>
            </a:r>
          </a:p>
        </p:txBody>
      </p:sp>
    </p:spTree>
    <p:extLst>
      <p:ext uri="{BB962C8B-B14F-4D97-AF65-F5344CB8AC3E}">
        <p14:creationId xmlns:p14="http://schemas.microsoft.com/office/powerpoint/2010/main" val="546078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52CC-DA46-AADA-7980-FA15FE99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A02F3-3FE1-92E8-F93D-BD469F68B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Quantum Pipeline Overview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1D90-3224-211F-F522-1F628BD37DA1}"/>
              </a:ext>
            </a:extLst>
          </p:cNvPr>
          <p:cNvSpPr txBox="1"/>
          <p:nvPr/>
        </p:nvSpPr>
        <p:spPr>
          <a:xfrm>
            <a:off x="838199" y="1486048"/>
            <a:ext cx="10470932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Preprocessing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Normalize and log-transform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scRNA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-seq matrix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Select top highly variable genes (e.g., 4 → 4 qubits)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Dropout Simulation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Randomly set expressed values to 0 with a given dropout rate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Amplitude Encoding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Encode gene expression vector (padded to 2^n) into quantum amplitudes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Trotterized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Time Evolution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Apply parameterized ansatz simulating quantum diffusion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Quantum State Tomography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Measure qubit Bloch vectors → reconstruct reduced density matrices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Use ρ00​ as recovered gene probability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5E75-CDCA-2C9B-5D11-BC2C5502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91DA4-F65D-8988-0D5E-B9A22497B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QST Circuit Architecture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594EE-19F5-A69C-29DC-48CCFC503369}"/>
              </a:ext>
            </a:extLst>
          </p:cNvPr>
          <p:cNvSpPr txBox="1"/>
          <p:nvPr/>
        </p:nvSpPr>
        <p:spPr>
          <a:xfrm>
            <a:off x="838199" y="1486048"/>
            <a:ext cx="10470932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Quantum Components Used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Amplitude Embedding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Normalized gene expression → quantum state ∣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ψ⟩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Trotter Ansatz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Simulates Hamiltonian time evolution e^{-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iHt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Uses parameterized Ising-like couplings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ij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Measurements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Measure Pauli X, Y, Z expectations for each qubit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Reconstruct each qubit’s density matrix:</a:t>
            </a:r>
          </a:p>
          <a:p>
            <a:pPr lvl="1"/>
            <a:r>
              <a:rPr lang="pl-PL" dirty="0"/>
              <a:t>ρ</a:t>
            </a:r>
            <a:r>
              <a:rPr lang="en-US" dirty="0"/>
              <a:t> </a:t>
            </a:r>
            <a:r>
              <a:rPr lang="pl-PL" dirty="0"/>
              <a:t>=</a:t>
            </a:r>
            <a:r>
              <a:rPr lang="en-US" dirty="0"/>
              <a:t> 0.5 </a:t>
            </a:r>
            <a:r>
              <a:rPr lang="pl-PL" dirty="0"/>
              <a:t>​(I+xX+yY+zZ)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ρ</a:t>
            </a:r>
            <a:r>
              <a:rPr lang="el-GR" sz="1400" dirty="0">
                <a:latin typeface="Cambria" panose="02040503050406030204" pitchFamily="18" charset="0"/>
                <a:ea typeface="Cambria" panose="02040503050406030204" pitchFamily="18" charset="0"/>
              </a:rPr>
              <a:t>00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real[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ρ[0,0]]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as recovered gene expression (normalized)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71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1A553-F14B-3492-1BA9-F7EE6F4B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53618-E540-A152-EA1C-14B0BF6CF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PBMC Dataset – QST vs MAGIC Results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78C49B-67C7-384F-02CA-866D96D68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528271"/>
              </p:ext>
            </p:extLst>
          </p:nvPr>
        </p:nvGraphicFramePr>
        <p:xfrm>
          <a:off x="1414780" y="1542416"/>
          <a:ext cx="9362440" cy="1463040"/>
        </p:xfrm>
        <a:graphic>
          <a:graphicData uri="http://schemas.openxmlformats.org/drawingml/2006/table">
            <a:tbl>
              <a:tblPr/>
              <a:tblGrid>
                <a:gridCol w="1872488">
                  <a:extLst>
                    <a:ext uri="{9D8B030D-6E8A-4147-A177-3AD203B41FA5}">
                      <a16:colId xmlns:a16="http://schemas.microsoft.com/office/drawing/2014/main" val="883393638"/>
                    </a:ext>
                  </a:extLst>
                </a:gridCol>
                <a:gridCol w="1872488">
                  <a:extLst>
                    <a:ext uri="{9D8B030D-6E8A-4147-A177-3AD203B41FA5}">
                      <a16:colId xmlns:a16="http://schemas.microsoft.com/office/drawing/2014/main" val="1089189418"/>
                    </a:ext>
                  </a:extLst>
                </a:gridCol>
                <a:gridCol w="1872488">
                  <a:extLst>
                    <a:ext uri="{9D8B030D-6E8A-4147-A177-3AD203B41FA5}">
                      <a16:colId xmlns:a16="http://schemas.microsoft.com/office/drawing/2014/main" val="4118725372"/>
                    </a:ext>
                  </a:extLst>
                </a:gridCol>
                <a:gridCol w="1872488">
                  <a:extLst>
                    <a:ext uri="{9D8B030D-6E8A-4147-A177-3AD203B41FA5}">
                      <a16:colId xmlns:a16="http://schemas.microsoft.com/office/drawing/2014/main" val="2519380049"/>
                    </a:ext>
                  </a:extLst>
                </a:gridCol>
                <a:gridCol w="1872488">
                  <a:extLst>
                    <a:ext uri="{9D8B030D-6E8A-4147-A177-3AD203B41FA5}">
                      <a16:colId xmlns:a16="http://schemas.microsoft.com/office/drawing/2014/main" val="2729220376"/>
                    </a:ext>
                  </a:extLst>
                </a:gridCol>
              </a:tblGrid>
              <a:tr h="178276"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 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Std 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34641"/>
                  </a:ext>
                </a:extLst>
              </a:tr>
              <a:tr h="178276">
                <a:tc>
                  <a:txBody>
                    <a:bodyPr/>
                    <a:lstStyle/>
                    <a:p>
                      <a:r>
                        <a:rPr lang="en-US" b="1"/>
                        <a:t>Dropout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0.0679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301503"/>
                  </a:ext>
                </a:extLst>
              </a:tr>
              <a:tr h="178276">
                <a:tc>
                  <a:txBody>
                    <a:bodyPr/>
                    <a:lstStyle/>
                    <a:p>
                      <a:r>
                        <a:rPr lang="en-US" b="1"/>
                        <a:t>MAGIC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0.0460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0.2984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575114"/>
                  </a:ext>
                </a:extLst>
              </a:tr>
              <a:tr h="178276">
                <a:tc>
                  <a:txBody>
                    <a:bodyPr/>
                    <a:lstStyle/>
                    <a:p>
                      <a:r>
                        <a:rPr lang="en-US" b="1"/>
                        <a:t>QST (Learned J)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0.0196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0.0679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58013"/>
                  </a:ext>
                </a:extLst>
              </a:tr>
            </a:tbl>
          </a:graphicData>
        </a:graphic>
      </p:graphicFrame>
      <p:pic>
        <p:nvPicPr>
          <p:cNvPr id="7173" name="Picture 5">
            <a:extLst>
              <a:ext uri="{FF2B5EF4-FFF2-40B4-BE49-F238E27FC236}">
                <a16:creationId xmlns:a16="http://schemas.microsoft.com/office/drawing/2014/main" id="{51A55A00-6B9F-FC9E-3730-6941FAC5A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445" y="3191118"/>
            <a:ext cx="4710321" cy="330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7">
            <a:extLst>
              <a:ext uri="{FF2B5EF4-FFF2-40B4-BE49-F238E27FC236}">
                <a16:creationId xmlns:a16="http://schemas.microsoft.com/office/drawing/2014/main" id="{69033DBE-3FA0-4534-22F2-A53493019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3114244"/>
            <a:ext cx="5663503" cy="337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42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22AAA-1894-2598-E5AE-0EBE07673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CC42B-C5FB-025D-B75D-897CD9F2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EMT Dataset – QST vs MAGIC Results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C1451B-0841-AC86-3DDE-256F2755A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077561"/>
              </p:ext>
            </p:extLst>
          </p:nvPr>
        </p:nvGraphicFramePr>
        <p:xfrm>
          <a:off x="1020066" y="1496854"/>
          <a:ext cx="10515600" cy="1463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6290633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477687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650759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8424272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55458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 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Std 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380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Dropout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0.1954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0.0847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141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MAGIC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0.1955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0.0844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0.2497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0.5016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110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QST (Learned J)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0.0940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5804"/>
                  </a:ext>
                </a:extLst>
              </a:tr>
            </a:tbl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D5E6B4F6-0F43-29F0-288D-3202071F9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69" y="3191118"/>
            <a:ext cx="5990272" cy="357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0F021DF9-10E0-2F2F-45FF-F9F7C8D36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291" y="3191118"/>
            <a:ext cx="4562475" cy="355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7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369FC-2DC8-D8A3-567E-3FEDD548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6358F-3FC4-8E0F-9DB2-34037F2C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Results &amp; Insights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EE1B4-259D-7AB0-BCDE-85E36438B527}"/>
              </a:ext>
            </a:extLst>
          </p:cNvPr>
          <p:cNvSpPr txBox="1"/>
          <p:nvPr/>
        </p:nvSpPr>
        <p:spPr>
          <a:xfrm>
            <a:off x="523766" y="1690688"/>
            <a:ext cx="10922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QST achieves same or lower MSE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compared to MAGIC across the PBMC dataset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QST generalizes better when dropout is sparse and genes are well-encoded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On the EMT dataset, MAGIC slightly outperforms QST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 terms of mean and max MSE.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This is due to the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strong manifold structure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 EMT data that MAGIC leverages 	via graph diffusion.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QST still reconstructs dominant signals (like TAGLN) well but may struggle with sparse 	or flat variance genes.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Takeaway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b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QST offers a principled quantum framework for denoising, useful in precision 	bioinformatics.</a:t>
            </a:r>
          </a:p>
        </p:txBody>
      </p:sp>
    </p:spTree>
    <p:extLst>
      <p:ext uri="{BB962C8B-B14F-4D97-AF65-F5344CB8AC3E}">
        <p14:creationId xmlns:p14="http://schemas.microsoft.com/office/powerpoint/2010/main" val="382377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42740-51EB-8466-16C3-17F0C1A9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7B109F9-9412-C4C3-9EE5-9FCF3D3A5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Comparison: MAGIC vs Quantum State Tomography (QST)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574567-32E8-F6E0-89E4-E13B5A67C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679834"/>
              </p:ext>
            </p:extLst>
          </p:nvPr>
        </p:nvGraphicFramePr>
        <p:xfrm>
          <a:off x="871312" y="1496551"/>
          <a:ext cx="10280164" cy="4836743"/>
        </p:xfrm>
        <a:graphic>
          <a:graphicData uri="http://schemas.openxmlformats.org/drawingml/2006/table">
            <a:tbl>
              <a:tblPr/>
              <a:tblGrid>
                <a:gridCol w="1692486">
                  <a:extLst>
                    <a:ext uri="{9D8B030D-6E8A-4147-A177-3AD203B41FA5}">
                      <a16:colId xmlns:a16="http://schemas.microsoft.com/office/drawing/2014/main" val="2060594817"/>
                    </a:ext>
                  </a:extLst>
                </a:gridCol>
                <a:gridCol w="4107960">
                  <a:extLst>
                    <a:ext uri="{9D8B030D-6E8A-4147-A177-3AD203B41FA5}">
                      <a16:colId xmlns:a16="http://schemas.microsoft.com/office/drawing/2014/main" val="2572928342"/>
                    </a:ext>
                  </a:extLst>
                </a:gridCol>
                <a:gridCol w="4479718">
                  <a:extLst>
                    <a:ext uri="{9D8B030D-6E8A-4147-A177-3AD203B41FA5}">
                      <a16:colId xmlns:a16="http://schemas.microsoft.com/office/drawing/2014/main" val="1466786848"/>
                    </a:ext>
                  </a:extLst>
                </a:gridCol>
              </a:tblGrid>
              <a:tr h="259956">
                <a:tc>
                  <a:txBody>
                    <a:bodyPr/>
                    <a:lstStyle/>
                    <a:p>
                      <a:r>
                        <a:rPr lang="en-US" sz="1000" b="1" dirty="0"/>
                        <a:t>Feature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MAGIC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Quantum State Tomography (QST)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643039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/>
                        <a:t>Type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Classical diffusion-based algorithm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Quantum-inspired simulation using amplitude encoding + trotterized ansatz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26273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/>
                        <a:t>Imputation Principle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Diffusion on a data manifold: smooths values using k-nearest neighbors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Quantum state evolution &amp; measurement recovers gene probabilities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764369"/>
                  </a:ext>
                </a:extLst>
              </a:tr>
              <a:tr h="398528">
                <a:tc>
                  <a:txBody>
                    <a:bodyPr/>
                    <a:lstStyle/>
                    <a:p>
                      <a:r>
                        <a:rPr lang="en-US" sz="1000" b="1" dirty="0"/>
                        <a:t>Input Representation</a:t>
                      </a:r>
                      <a:endParaRPr lang="en-US" sz="1000" dirty="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Raw or normalized gene expression matrix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Amplitude-encoded quantum state (L2-normalized into 2ⁿ space)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120180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/>
                        <a:t>Handles Dropout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 – relies on gene-to-gene similarity across cells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 – directly learns missing entries by optimizing quantum circuit params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026435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/>
                        <a:t>Scalability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Scales well to thousands of cells and genes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Limited by number of qubits (currently 4–16 qubits feasible classically)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782258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/>
                        <a:t>Parameter Training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 training – unsupervised smoothing method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 – learns optimal J-matrix (interactions) using gradient-based training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165259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 dirty="0"/>
                        <a:t>Noise Sensitivity</a:t>
                      </a:r>
                      <a:endParaRPr lang="en-US" sz="1000" dirty="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Robust to moderate noise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Sensitive to encoding errors, requires precise amplitude normalization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121212"/>
                  </a:ext>
                </a:extLst>
              </a:tr>
              <a:tr h="259956">
                <a:tc>
                  <a:txBody>
                    <a:bodyPr/>
                    <a:lstStyle/>
                    <a:p>
                      <a:r>
                        <a:rPr lang="en-US" sz="1000" b="1"/>
                        <a:t>Tunable Parameters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Number of diffusion steps, t, and k-neighbors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Trotter steps (n), total time (t), J-parameters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974864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/>
                        <a:t>Runtime (small dataset)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Fast (seconds)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Moderate (minutes for training)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921823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/>
                        <a:t>Best Used When</a:t>
                      </a:r>
                      <a:endParaRPr lang="en-US" sz="100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Dropouts are random, smooth manifold assumption holds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Strong patterns exist, useful for sparse gene sets with learned structure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978437"/>
                  </a:ext>
                </a:extLst>
              </a:tr>
              <a:tr h="435367">
                <a:tc>
                  <a:txBody>
                    <a:bodyPr/>
                    <a:lstStyle/>
                    <a:p>
                      <a:r>
                        <a:rPr lang="en-US" sz="1000" b="1" dirty="0"/>
                        <a:t>Limitations</a:t>
                      </a:r>
                      <a:endParaRPr lang="en-US" sz="1000" dirty="0"/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Can oversmooth rare signals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Currently slower and limited by classical simulation of quantum circuits</a:t>
                      </a:r>
                    </a:p>
                  </a:txBody>
                  <a:tcPr marL="36331" marR="36331" marT="18166" marB="18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30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721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7747B-371B-425A-1DC6-311400DE2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E8F2C-B73D-7F22-3F05-A6DF96870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7567" cy="1325563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CABED9-794A-70A1-EA35-C766935B9181}"/>
              </a:ext>
            </a:extLst>
          </p:cNvPr>
          <p:cNvSpPr txBox="1"/>
          <p:nvPr/>
        </p:nvSpPr>
        <p:spPr>
          <a:xfrm>
            <a:off x="1078591" y="2032060"/>
            <a:ext cx="100348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https://dburkhardt.github.io/post/2018-10-28-magic/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https://www.nature.com/articles/s41467-018-03405-7#Sec8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parajita" panose="020B0502040204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417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516DC-047F-E4FE-632E-2C113B09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842C1-96D6-A1EF-F69E-C4484F2CB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Amplitude encoding used in QST justifies our team name: Amplitude Architects</a:t>
            </a:r>
          </a:p>
          <a:p>
            <a:endParaRPr lang="en-US" sz="3200" b="1" dirty="0"/>
          </a:p>
          <a:p>
            <a:r>
              <a:rPr lang="en-US" sz="32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60838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1050</Words>
  <Application>Microsoft Office PowerPoint</Application>
  <PresentationFormat>Widescreen</PresentationFormat>
  <Paragraphs>201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Cambria</vt:lpstr>
      <vt:lpstr>Office 主题​​</vt:lpstr>
      <vt:lpstr>Denoising single cell RNA sequencing data using  Quantum State Tomography   Ranga Sudharshan Swapnil Bhole   (Team: Amplitude Architects)  </vt:lpstr>
      <vt:lpstr>🚀 Motivation and Challenges</vt:lpstr>
      <vt:lpstr>Existing Methods &amp; Limitations</vt:lpstr>
      <vt:lpstr>PBMC data before and after imputation</vt:lpstr>
      <vt:lpstr>PBMC data before and after imputation</vt:lpstr>
      <vt:lpstr>MAGIC: Markov Affinity-based Graph Imputation of Cells</vt:lpstr>
      <vt:lpstr>MAGIC: Markov Affinity-based Graph Imputation of Cells</vt:lpstr>
      <vt:lpstr>Quantum Pipeline Overview</vt:lpstr>
      <vt:lpstr>QST Circuit Architecture</vt:lpstr>
      <vt:lpstr>PBMC Dataset – QST vs MAGIC Results</vt:lpstr>
      <vt:lpstr>EMT Dataset – QST vs MAGIC Results</vt:lpstr>
      <vt:lpstr>Results &amp; Insights</vt:lpstr>
      <vt:lpstr>Comparison: MAGIC vs Quantum State Tomography (QST)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RONGHUI QI</dc:creator>
  <cp:lastModifiedBy>Bhole, Swapnil</cp:lastModifiedBy>
  <cp:revision>13</cp:revision>
  <dcterms:created xsi:type="dcterms:W3CDTF">2025-04-20T18:50:54Z</dcterms:created>
  <dcterms:modified xsi:type="dcterms:W3CDTF">2025-06-25T15:26:22Z</dcterms:modified>
</cp:coreProperties>
</file>